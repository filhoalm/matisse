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7" r:id="rId5"/>
    <p:sldId id="256" r:id="rId6"/>
    <p:sldId id="258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E7C147-1714-47B8-851B-3887254388FC}" v="1" dt="2026-08-13T13:16:38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SEER*Stat Rate sessions return Count and Population columns directly; the only reshaping needed is to interleave them by calendar period. Verify a few cells against the SEER*Stat rate output before pasting into the web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is a rectangular matrix of A age-group rows by 2P columns: for each calendar period, a Count column immediately followed by its Population (person-years) column. Equal age and period interval widths are what make the diagonals correspond to birth cohorts.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3ABB1-7F81-42CF-A048-C33527ED74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93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9F48D-C016-6943-90A0-7E5EEE9B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0B78A-2E4A-EFCD-88AA-1B1E083FA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0392C-562D-9013-4938-B38DE2DD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A6EF8-340D-4181-900E-EBF695579F6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F53AB-5217-A33B-45B7-46CB2871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8A24B-5655-2D39-C13B-6BE7D52C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9ED5C-3BA8-44F1-BE10-B547C3700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6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26D1-0AEE-39A5-4F75-53F9FD873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3C5982-BB64-A266-53B8-1F705C3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9DD2B-1074-475F-98CB-4AB9C6FA63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3B597-70B4-097E-F273-62D2B5FD6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4B6A7-FD90-4E0F-795A-F7931FFE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56498-FF02-442A-B4F5-F0D8C97B7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5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co.iarc.who.int/overtime/" TargetMode="External"/><Relationship Id="rId5" Type="http://schemas.openxmlformats.org/officeDocument/2006/relationships/hyperlink" Target="https://ci5.iarc.fr/" TargetMode="External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8575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SEER*Stat to the APC Input Matrix in Excel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2845" y="992124"/>
            <a:ext cx="310896" cy="310896"/>
          </a:xfrm>
          <a:prstGeom prst="ellipse">
            <a:avLst/>
          </a:prstGeom>
          <a:solidFill>
            <a:srgbClr val="6D2E46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02845" y="9921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3816" y="930421"/>
            <a:ext cx="14006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Rate session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078" y="1121142"/>
            <a:ext cx="37713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Select a database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845" y="1697649"/>
            <a:ext cx="310896" cy="310896"/>
          </a:xfrm>
          <a:prstGeom prst="ellipse">
            <a:avLst/>
          </a:prstGeom>
          <a:solidFill>
            <a:srgbClr val="6D2E46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845" y="16976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" y="1635946"/>
            <a:ext cx="148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case selection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078" y="1919733"/>
            <a:ext cx="25276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/>
              <a:t>Set restrictions for age, year of diagnosis, </a:t>
            </a:r>
          </a:p>
          <a:p>
            <a:pPr marL="0" indent="0">
              <a:buNone/>
            </a:pPr>
            <a:r>
              <a:rPr lang="en-US" sz="1150" dirty="0"/>
              <a:t>cancer types, and other variables.</a:t>
            </a:r>
          </a:p>
        </p:txBody>
      </p:sp>
      <p:sp>
        <p:nvSpPr>
          <p:cNvPr id="12" name="Shape 10"/>
          <p:cNvSpPr/>
          <p:nvPr/>
        </p:nvSpPr>
        <p:spPr>
          <a:xfrm>
            <a:off x="4016983" y="1683983"/>
            <a:ext cx="310896" cy="310896"/>
          </a:xfrm>
          <a:prstGeom prst="ellipse">
            <a:avLst/>
          </a:prstGeom>
          <a:solidFill>
            <a:srgbClr val="6D2E46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16983" y="16839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09383" y="1645988"/>
            <a:ext cx="10822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09383" y="1874588"/>
            <a:ext cx="26611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Row = age in 5-year interval</a:t>
            </a:r>
          </a:p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Column = year of diagnosis in 5-year interval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14106" y="959232"/>
            <a:ext cx="310896" cy="310896"/>
          </a:xfrm>
          <a:prstGeom prst="ellipse">
            <a:avLst/>
          </a:prstGeom>
          <a:solidFill>
            <a:srgbClr val="6D2E46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14106" y="95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06505" y="921237"/>
            <a:ext cx="2370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age and calendar years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06506" y="1172925"/>
            <a:ext cx="33789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Create grouped year and age variables so period width equals age width.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22144" y="3616239"/>
            <a:ext cx="310896" cy="310896"/>
          </a:xfrm>
          <a:prstGeom prst="ellipse">
            <a:avLst/>
          </a:prstGeom>
          <a:solidFill>
            <a:srgbClr val="6D2E46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22144" y="361623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9560060-FD66-088C-49CD-9B8AB88104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829"/>
          <a:stretch>
            <a:fillRect/>
          </a:stretch>
        </p:blipFill>
        <p:spPr>
          <a:xfrm>
            <a:off x="427224" y="2434537"/>
            <a:ext cx="3153161" cy="319467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091D6E5-0835-9323-75D8-D16A603D72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45" r="41370" b="19628"/>
          <a:stretch>
            <a:fillRect/>
          </a:stretch>
        </p:blipFill>
        <p:spPr>
          <a:xfrm>
            <a:off x="4078847" y="2254919"/>
            <a:ext cx="3313727" cy="125230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1A664D0-E52F-92CC-1C28-238657D63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9382" y="4318816"/>
            <a:ext cx="2661129" cy="2148077"/>
          </a:xfrm>
          <a:prstGeom prst="rect">
            <a:avLst/>
          </a:prstGeom>
        </p:spPr>
      </p:pic>
      <p:sp>
        <p:nvSpPr>
          <p:cNvPr id="54" name="Text 12">
            <a:extLst>
              <a:ext uri="{FF2B5EF4-FFF2-40B4-BE49-F238E27FC236}">
                <a16:creationId xmlns:a16="http://schemas.microsoft.com/office/drawing/2014/main" id="{56C53E9F-A52F-85F9-802D-D44D12EDE423}"/>
              </a:ext>
            </a:extLst>
          </p:cNvPr>
          <p:cNvSpPr/>
          <p:nvPr/>
        </p:nvSpPr>
        <p:spPr>
          <a:xfrm>
            <a:off x="4409383" y="3616239"/>
            <a:ext cx="30303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Option—Keep only Counts and Populations</a:t>
            </a:r>
            <a:endParaRPr lang="en-US" sz="1300" dirty="0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56DB0146-FDD2-AACB-5AAE-B2C5E2D52BFF}"/>
              </a:ext>
            </a:extLst>
          </p:cNvPr>
          <p:cNvSpPr/>
          <p:nvPr/>
        </p:nvSpPr>
        <p:spPr>
          <a:xfrm>
            <a:off x="4450369" y="3871473"/>
            <a:ext cx="32599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Click Option in the top bar and deselect others except </a:t>
            </a:r>
          </a:p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Counts and Populations</a:t>
            </a:r>
            <a:endParaRPr lang="en-US" sz="1150" dirty="0"/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4A056044-66A5-763B-8083-052ED06080DD}"/>
              </a:ext>
            </a:extLst>
          </p:cNvPr>
          <p:cNvSpPr/>
          <p:nvPr/>
        </p:nvSpPr>
        <p:spPr>
          <a:xfrm>
            <a:off x="8082265" y="936609"/>
            <a:ext cx="310896" cy="310896"/>
          </a:xfrm>
          <a:prstGeom prst="ellipse">
            <a:avLst/>
          </a:prstGeom>
          <a:solidFill>
            <a:srgbClr val="6D2E46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3">
            <a:extLst>
              <a:ext uri="{FF2B5EF4-FFF2-40B4-BE49-F238E27FC236}">
                <a16:creationId xmlns:a16="http://schemas.microsoft.com/office/drawing/2014/main" id="{A8C38F2B-17CD-1803-0EFD-326C030261BB}"/>
              </a:ext>
            </a:extLst>
          </p:cNvPr>
          <p:cNvSpPr/>
          <p:nvPr/>
        </p:nvSpPr>
        <p:spPr>
          <a:xfrm>
            <a:off x="8082265" y="9366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4" name="Text 4">
            <a:extLst>
              <a:ext uri="{FF2B5EF4-FFF2-40B4-BE49-F238E27FC236}">
                <a16:creationId xmlns:a16="http://schemas.microsoft.com/office/drawing/2014/main" id="{8A726AC3-941D-1CAE-4602-37EFC3A7A7E5}"/>
              </a:ext>
            </a:extLst>
          </p:cNvPr>
          <p:cNvSpPr/>
          <p:nvPr/>
        </p:nvSpPr>
        <p:spPr>
          <a:xfrm>
            <a:off x="8493236" y="917980"/>
            <a:ext cx="30949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Highlight/Format—All columns—Filter</a:t>
            </a:r>
          </a:p>
        </p:txBody>
      </p:sp>
      <p:sp>
        <p:nvSpPr>
          <p:cNvPr id="76" name="Shape 6">
            <a:extLst>
              <a:ext uri="{FF2B5EF4-FFF2-40B4-BE49-F238E27FC236}">
                <a16:creationId xmlns:a16="http://schemas.microsoft.com/office/drawing/2014/main" id="{0C9E0980-BFD4-A426-798D-4C58ED6DE906}"/>
              </a:ext>
            </a:extLst>
          </p:cNvPr>
          <p:cNvSpPr/>
          <p:nvPr/>
        </p:nvSpPr>
        <p:spPr>
          <a:xfrm>
            <a:off x="8237713" y="4495383"/>
            <a:ext cx="310896" cy="310896"/>
          </a:xfrm>
          <a:prstGeom prst="ellipse">
            <a:avLst/>
          </a:prstGeom>
          <a:solidFill>
            <a:srgbClr val="6D2E46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">
            <a:extLst>
              <a:ext uri="{FF2B5EF4-FFF2-40B4-BE49-F238E27FC236}">
                <a16:creationId xmlns:a16="http://schemas.microsoft.com/office/drawing/2014/main" id="{9576F8F1-3EDC-C525-1CAC-E49426AB0E4F}"/>
              </a:ext>
            </a:extLst>
          </p:cNvPr>
          <p:cNvSpPr/>
          <p:nvPr/>
        </p:nvSpPr>
        <p:spPr>
          <a:xfrm>
            <a:off x="8237713" y="44953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4060528A-97CF-5948-0AFF-A964DDE48C62}"/>
              </a:ext>
            </a:extLst>
          </p:cNvPr>
          <p:cNvSpPr/>
          <p:nvPr/>
        </p:nvSpPr>
        <p:spPr>
          <a:xfrm>
            <a:off x="8648684" y="4433680"/>
            <a:ext cx="148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Copy—Page</a:t>
            </a:r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50D45FE4-10F6-AFAB-EA37-93D82F0A7474}"/>
              </a:ext>
            </a:extLst>
          </p:cNvPr>
          <p:cNvSpPr/>
          <p:nvPr/>
        </p:nvSpPr>
        <p:spPr>
          <a:xfrm>
            <a:off x="8648684" y="4687407"/>
            <a:ext cx="25276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/>
              <a:t>Click Copy in the top bar, select Page/All Pages, then paste into Excel.</a:t>
            </a:r>
          </a:p>
        </p:txBody>
      </p:sp>
      <p:sp>
        <p:nvSpPr>
          <p:cNvPr id="84" name="Text 9">
            <a:extLst>
              <a:ext uri="{FF2B5EF4-FFF2-40B4-BE49-F238E27FC236}">
                <a16:creationId xmlns:a16="http://schemas.microsoft.com/office/drawing/2014/main" id="{6973A539-7BA0-8A91-2281-8D62EA350195}"/>
              </a:ext>
            </a:extLst>
          </p:cNvPr>
          <p:cNvSpPr/>
          <p:nvPr/>
        </p:nvSpPr>
        <p:spPr>
          <a:xfrm>
            <a:off x="8493236" y="1184148"/>
            <a:ext cx="3541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/>
              <a:t>Click Highlight/Format, select all columns. Right-click any column title, select Filter, deselect Thousands Separator.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D3A7300F-B695-5BD4-E5E3-5DFEADFA03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82265" y="1556687"/>
            <a:ext cx="3883353" cy="26708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0923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APC </a:t>
            </a:r>
            <a:r>
              <a:rPr lang="en-US" sz="3400" b="1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Tool (NCI) 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577667" y="1526709"/>
            <a:ext cx="4114800" cy="3804582"/>
          </a:xfrm>
          <a:prstGeom prst="roundRect">
            <a:avLst>
              <a:gd name="adj" fmla="val 1481"/>
            </a:avLst>
          </a:prstGeom>
          <a:solidFill>
            <a:srgbClr val="F5EFF1"/>
          </a:solidFill>
          <a:ln w="9525">
            <a:solidFill>
              <a:srgbClr val="DCCBD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818120" y="16642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the tool enforces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18120" y="2093637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period intervals must be equal in width: 5-year age groups require 5-year periods.</a:t>
            </a:r>
            <a:endParaRPr lang="en-US" sz="12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and Population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cells cannot be zero</a:t>
            </a:r>
            <a:endParaRPr lang="en-US" sz="1250" dirty="0"/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to supply: Title, Start Year, Start Age, Interval.</a:t>
            </a:r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reference uses the central age group, central period, and mid-year cohort. If an alternative cohort should be the reference, select Manual and choose the reference year and age.</a:t>
            </a:r>
          </a:p>
          <a:p>
            <a:pPr marL="342900" indent="-342900">
              <a:lnSpc>
                <a:spcPct val="9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Calculate and select the output format.</a:t>
            </a:r>
          </a:p>
        </p:txBody>
      </p:sp>
      <p:sp>
        <p:nvSpPr>
          <p:cNvPr id="17" name="Text 14"/>
          <p:cNvSpPr/>
          <p:nvPr/>
        </p:nvSpPr>
        <p:spPr>
          <a:xfrm>
            <a:off x="502920" y="684953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Entry by copy-paste from Excel into the Input matrix</a:t>
            </a:r>
            <a:endParaRPr lang="en-US" sz="11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B297E5-84C5-C210-DFFA-C471231C6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" y="889704"/>
            <a:ext cx="7099300" cy="39739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DE2521B-869B-E1F2-2FBF-039CDC6B6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4647729"/>
            <a:ext cx="2233416" cy="2068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1BDF8D-4B8A-3238-8BCE-73C5737E1B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87"/>
          <a:stretch>
            <a:fillRect/>
          </a:stretch>
        </p:blipFill>
        <p:spPr>
          <a:xfrm>
            <a:off x="7990903" y="1574732"/>
            <a:ext cx="2648320" cy="7664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15710B-78B1-2941-67E1-16E6CC19AB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440"/>
          <a:stretch>
            <a:fillRect/>
          </a:stretch>
        </p:blipFill>
        <p:spPr>
          <a:xfrm>
            <a:off x="282389" y="1265767"/>
            <a:ext cx="4769520" cy="18776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44407BD4-104A-50C7-CB9B-AE234DCB042F}"/>
              </a:ext>
            </a:extLst>
          </p:cNvPr>
          <p:cNvSpPr/>
          <p:nvPr/>
        </p:nvSpPr>
        <p:spPr>
          <a:xfrm>
            <a:off x="96019" y="580232"/>
            <a:ext cx="594323" cy="569899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B7724-9756-94E1-BEE1-26CD19D0E4AF}"/>
              </a:ext>
            </a:extLst>
          </p:cNvPr>
          <p:cNvSpPr txBox="1"/>
          <p:nvPr/>
        </p:nvSpPr>
        <p:spPr>
          <a:xfrm>
            <a:off x="0" y="-3069"/>
            <a:ext cx="10357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037AB3"/>
                </a:solidFill>
                <a:latin typeface="+mj-lt"/>
              </a:rPr>
              <a:t>From the CI5 Plus Database to the APC Input Matrix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91F73B-BB28-31F7-C5D6-1148C3C0BE90}"/>
              </a:ext>
            </a:extLst>
          </p:cNvPr>
          <p:cNvSpPr txBox="1"/>
          <p:nvPr/>
        </p:nvSpPr>
        <p:spPr>
          <a:xfrm>
            <a:off x="714324" y="559069"/>
            <a:ext cx="4337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Visit CI5 website (</a:t>
            </a:r>
            <a:r>
              <a:rPr lang="en-US" b="1" dirty="0">
                <a:hlinkClick r:id="rId5"/>
              </a:rPr>
              <a:t>https://ci5.iarc.fr/</a:t>
            </a:r>
            <a:r>
              <a:rPr lang="en-US" b="1" dirty="0"/>
              <a:t>)</a:t>
            </a:r>
          </a:p>
          <a:p>
            <a:r>
              <a:rPr lang="en-US" sz="1400" dirty="0"/>
              <a:t>Select the CI5 Plus tab to access the database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944A74-3A66-692E-2B92-C1710CA04BCF}"/>
              </a:ext>
            </a:extLst>
          </p:cNvPr>
          <p:cNvSpPr txBox="1"/>
          <p:nvPr/>
        </p:nvSpPr>
        <p:spPr>
          <a:xfrm>
            <a:off x="690342" y="3252997"/>
            <a:ext cx="4535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Download the data </a:t>
            </a:r>
          </a:p>
          <a:p>
            <a:r>
              <a:rPr lang="en-US" sz="1400" dirty="0"/>
              <a:t>Download the Summary or Detailed dataset </a:t>
            </a:r>
            <a:endParaRPr lang="en-US" dirty="0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41482A50-D1D9-FB3C-F003-382A8F04BE5B}"/>
              </a:ext>
            </a:extLst>
          </p:cNvPr>
          <p:cNvSpPr/>
          <p:nvPr/>
        </p:nvSpPr>
        <p:spPr>
          <a:xfrm>
            <a:off x="96019" y="3261047"/>
            <a:ext cx="594323" cy="569899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0C2BB93E-49F4-D077-2505-1ED6BC0B9C60}"/>
              </a:ext>
            </a:extLst>
          </p:cNvPr>
          <p:cNvSpPr/>
          <p:nvPr/>
        </p:nvSpPr>
        <p:spPr>
          <a:xfrm>
            <a:off x="96019" y="4006292"/>
            <a:ext cx="594323" cy="569899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62DB15-3878-D06F-212C-54B1D0E80C6C}"/>
              </a:ext>
            </a:extLst>
          </p:cNvPr>
          <p:cNvSpPr txBox="1"/>
          <p:nvPr/>
        </p:nvSpPr>
        <p:spPr>
          <a:xfrm>
            <a:off x="690341" y="3872481"/>
            <a:ext cx="453533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Process and filter the data </a:t>
            </a:r>
          </a:p>
          <a:p>
            <a:r>
              <a:rPr lang="en-US" sz="1400" dirty="0"/>
              <a:t>Use the cancer and registry dictionaries to select the cancers and populations of interest</a:t>
            </a: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7ECDE787-C1F9-E95B-6165-C0ECFBC26FD3}"/>
              </a:ext>
            </a:extLst>
          </p:cNvPr>
          <p:cNvSpPr/>
          <p:nvPr/>
        </p:nvSpPr>
        <p:spPr>
          <a:xfrm>
            <a:off x="5758134" y="580232"/>
            <a:ext cx="594323" cy="569899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7ABF1F-B254-9EA8-CB3F-C81AC0B4BDE2}"/>
              </a:ext>
            </a:extLst>
          </p:cNvPr>
          <p:cNvSpPr txBox="1"/>
          <p:nvPr/>
        </p:nvSpPr>
        <p:spPr>
          <a:xfrm>
            <a:off x="6440502" y="559069"/>
            <a:ext cx="5751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Confirm country registry coverage </a:t>
            </a:r>
          </a:p>
          <a:p>
            <a:r>
              <a:rPr lang="en-US" sz="1400" dirty="0"/>
              <a:t>For countries with multiple registries, refer to the Cancer Over Time (</a:t>
            </a:r>
            <a:r>
              <a:rPr lang="en-US" sz="1400" dirty="0">
                <a:hlinkClick r:id="rId6"/>
              </a:rPr>
              <a:t>https://gco.iarc.who.int/overtime/</a:t>
            </a:r>
            <a:r>
              <a:rPr lang="en-US" sz="1400" dirty="0"/>
              <a:t>) for appropriate country-level summarization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854F21A2-F980-59B9-2CFE-3D00AD35F3B9}"/>
              </a:ext>
            </a:extLst>
          </p:cNvPr>
          <p:cNvSpPr/>
          <p:nvPr/>
        </p:nvSpPr>
        <p:spPr>
          <a:xfrm>
            <a:off x="5758134" y="2573489"/>
            <a:ext cx="594323" cy="569899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B74ED3-B72F-2EF0-6681-3E39E9555B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5878" y="4721175"/>
            <a:ext cx="2789802" cy="20223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15E8D8-7B5F-723F-98DA-074E492AF5F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6406"/>
          <a:stretch>
            <a:fillRect/>
          </a:stretch>
        </p:blipFill>
        <p:spPr>
          <a:xfrm>
            <a:off x="282389" y="4721175"/>
            <a:ext cx="2013242" cy="20223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0FAE3C8-252B-45DA-EB75-2CFFBFE5859E}"/>
              </a:ext>
            </a:extLst>
          </p:cNvPr>
          <p:cNvSpPr txBox="1"/>
          <p:nvPr/>
        </p:nvSpPr>
        <p:spPr>
          <a:xfrm>
            <a:off x="6440502" y="2470625"/>
            <a:ext cx="57514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Create equal age and period intervals</a:t>
            </a:r>
          </a:p>
          <a:p>
            <a:r>
              <a:rPr lang="en-US" sz="1400" dirty="0"/>
              <a:t>The data are provided in 5-year age groups by single calendar year, so collapse years into 5-year periods to match the age-group interval</a:t>
            </a:r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2BE1F4D2-B0B1-BA28-E648-4FEC49D86BF1}"/>
              </a:ext>
            </a:extLst>
          </p:cNvPr>
          <p:cNvSpPr/>
          <p:nvPr/>
        </p:nvSpPr>
        <p:spPr>
          <a:xfrm>
            <a:off x="5758134" y="3482280"/>
            <a:ext cx="594323" cy="569899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EF19F2-6A4F-6E0B-EA6B-612531D658CD}"/>
              </a:ext>
            </a:extLst>
          </p:cNvPr>
          <p:cNvSpPr txBox="1"/>
          <p:nvPr/>
        </p:nvSpPr>
        <p:spPr>
          <a:xfrm>
            <a:off x="6440502" y="3429000"/>
            <a:ext cx="57514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Construct the APC input table</a:t>
            </a:r>
          </a:p>
          <a:p>
            <a:r>
              <a:rPr lang="en-US" sz="1400" dirty="0"/>
              <a:t>Arrange 5-year age groups in rows and 5-year periods in columns, with cases and population side by side for each period </a:t>
            </a:r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2F3A6971-EA57-5BDB-1C68-A2335C01348F}"/>
              </a:ext>
            </a:extLst>
          </p:cNvPr>
          <p:cNvSpPr/>
          <p:nvPr/>
        </p:nvSpPr>
        <p:spPr>
          <a:xfrm>
            <a:off x="5758134" y="4391072"/>
            <a:ext cx="594323" cy="569899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A1AB29-D304-EC40-9867-6477E62E7AA0}"/>
              </a:ext>
            </a:extLst>
          </p:cNvPr>
          <p:cNvSpPr txBox="1"/>
          <p:nvPr/>
        </p:nvSpPr>
        <p:spPr>
          <a:xfrm>
            <a:off x="6440503" y="4383467"/>
            <a:ext cx="57514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Copy and paste the table into the NCI Webtool</a:t>
            </a:r>
          </a:p>
          <a:p>
            <a:r>
              <a:rPr lang="en-US" sz="1400" dirty="0"/>
              <a:t>Note: Double-check the final table to ensure there are no zero-case cells 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7AE202E-6A4C-EB85-6FAE-6FA73AAE49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8846" y="4960971"/>
            <a:ext cx="4222130" cy="17825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0297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077B89-641C-E41B-4E59-8BAF2D63FC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5701"/>
          <a:stretch>
            <a:fillRect/>
          </a:stretch>
        </p:blipFill>
        <p:spPr>
          <a:xfrm>
            <a:off x="208232" y="1044534"/>
            <a:ext cx="5325791" cy="2580437"/>
          </a:xfrm>
          <a:prstGeom prst="rect">
            <a:avLst/>
          </a:prstGeom>
          <a:ln w="38100">
            <a:solidFill>
              <a:srgbClr val="037AB3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DA1ACC-C790-E8E3-CC67-4BD10BE4E3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-7191"/>
          <a:stretch>
            <a:fillRect/>
          </a:stretch>
        </p:blipFill>
        <p:spPr>
          <a:xfrm>
            <a:off x="6395986" y="1044534"/>
            <a:ext cx="5350042" cy="795474"/>
          </a:xfrm>
          <a:prstGeom prst="rect">
            <a:avLst/>
          </a:prstGeom>
          <a:ln w="38100">
            <a:solidFill>
              <a:srgbClr val="037AB3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84A710-9146-7567-9F5D-E592481E0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32" y="4260656"/>
            <a:ext cx="5325791" cy="2522234"/>
          </a:xfrm>
          <a:prstGeom prst="rect">
            <a:avLst/>
          </a:prstGeom>
          <a:ln w="38100">
            <a:solidFill>
              <a:srgbClr val="037AB3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5B143B-F748-7553-590C-45CED18FB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986" y="2394486"/>
            <a:ext cx="5350042" cy="3147940"/>
          </a:xfrm>
          <a:prstGeom prst="rect">
            <a:avLst/>
          </a:prstGeom>
          <a:ln w="38100">
            <a:solidFill>
              <a:srgbClr val="037AB3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504D7D-6E83-523D-F9DF-C5131B5990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" r="-44750"/>
          <a:stretch>
            <a:fillRect/>
          </a:stretch>
        </p:blipFill>
        <p:spPr>
          <a:xfrm>
            <a:off x="6395986" y="6050472"/>
            <a:ext cx="5350042" cy="732418"/>
          </a:xfrm>
          <a:prstGeom prst="rect">
            <a:avLst/>
          </a:prstGeom>
          <a:ln w="38100">
            <a:solidFill>
              <a:srgbClr val="037AB3"/>
            </a:solidFill>
          </a:ln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1F879740-E8DA-174D-8910-60B0B9FF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232"/>
            <a:ext cx="10515600" cy="614905"/>
          </a:xfrm>
        </p:spPr>
        <p:txBody>
          <a:bodyPr>
            <a:normAutofit/>
          </a:bodyPr>
          <a:lstStyle/>
          <a:p>
            <a:pPr algn="l"/>
            <a:r>
              <a:rPr lang="en-US" sz="3200" b="1" u="sng" dirty="0">
                <a:solidFill>
                  <a:srgbClr val="037AB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Code for Generating the APC Input Matrix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B48772A6-807C-8286-C515-36F8028EF828}"/>
              </a:ext>
            </a:extLst>
          </p:cNvPr>
          <p:cNvSpPr/>
          <p:nvPr/>
        </p:nvSpPr>
        <p:spPr>
          <a:xfrm>
            <a:off x="91060" y="589450"/>
            <a:ext cx="350035" cy="335650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AF494D-0D62-58F2-0270-A879D2C96BD5}"/>
              </a:ext>
            </a:extLst>
          </p:cNvPr>
          <p:cNvSpPr txBox="1"/>
          <p:nvPr/>
        </p:nvSpPr>
        <p:spPr>
          <a:xfrm>
            <a:off x="528065" y="533475"/>
            <a:ext cx="5005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Import the CI5plus dataset, select cancer codes, registry IDs, and diagnosis years</a:t>
            </a:r>
            <a:endParaRPr lang="en-US" sz="1400" dirty="0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811AF884-61B9-B566-D429-9E7BFBCD9FA9}"/>
              </a:ext>
            </a:extLst>
          </p:cNvPr>
          <p:cNvSpPr/>
          <p:nvPr/>
        </p:nvSpPr>
        <p:spPr>
          <a:xfrm>
            <a:off x="85102" y="3829546"/>
            <a:ext cx="350035" cy="335650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07BD6B-7491-2D16-0407-38B8E256489C}"/>
              </a:ext>
            </a:extLst>
          </p:cNvPr>
          <p:cNvSpPr txBox="1"/>
          <p:nvPr/>
        </p:nvSpPr>
        <p:spPr>
          <a:xfrm>
            <a:off x="528066" y="3737436"/>
            <a:ext cx="4929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Exclude unused registries and summarize local registries into country-level observations</a:t>
            </a:r>
            <a:endParaRPr lang="en-US" sz="1400" dirty="0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DD0D0C55-132C-EE0D-AE89-D6953883A1A1}"/>
              </a:ext>
            </a:extLst>
          </p:cNvPr>
          <p:cNvSpPr/>
          <p:nvPr/>
        </p:nvSpPr>
        <p:spPr>
          <a:xfrm>
            <a:off x="6243586" y="625585"/>
            <a:ext cx="350035" cy="335650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4AC008-7D93-7C66-0BD7-99E327156D59}"/>
              </a:ext>
            </a:extLst>
          </p:cNvPr>
          <p:cNvSpPr txBox="1"/>
          <p:nvPr/>
        </p:nvSpPr>
        <p:spPr>
          <a:xfrm>
            <a:off x="6632573" y="620570"/>
            <a:ext cx="4929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Optional: Generate “both sexes” observations</a:t>
            </a:r>
            <a:endParaRPr lang="en-US" sz="1400" dirty="0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C84ECAE0-5A33-0307-B695-AD67EDB40214}"/>
              </a:ext>
            </a:extLst>
          </p:cNvPr>
          <p:cNvSpPr/>
          <p:nvPr/>
        </p:nvSpPr>
        <p:spPr>
          <a:xfrm>
            <a:off x="6243586" y="1960562"/>
            <a:ext cx="350035" cy="335650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822918-DCC3-F59B-0CBA-5E171E562C5E}"/>
              </a:ext>
            </a:extLst>
          </p:cNvPr>
          <p:cNvSpPr txBox="1"/>
          <p:nvPr/>
        </p:nvSpPr>
        <p:spPr>
          <a:xfrm>
            <a:off x="6632573" y="1970107"/>
            <a:ext cx="5246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Group diagnosis years into 5-year periods and sum cases and pops</a:t>
            </a:r>
            <a:endParaRPr lang="en-US" sz="1400" dirty="0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76D96CA-9656-3614-9485-502AC37DD260}"/>
              </a:ext>
            </a:extLst>
          </p:cNvPr>
          <p:cNvSpPr/>
          <p:nvPr/>
        </p:nvSpPr>
        <p:spPr>
          <a:xfrm>
            <a:off x="6243586" y="5638129"/>
            <a:ext cx="350035" cy="335650"/>
          </a:xfrm>
          <a:prstGeom prst="flowChartConnector">
            <a:avLst/>
          </a:prstGeom>
          <a:solidFill>
            <a:srgbClr val="037A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B74EC9-F5DC-093B-5BB1-6C0954396264}"/>
              </a:ext>
            </a:extLst>
          </p:cNvPr>
          <p:cNvSpPr txBox="1"/>
          <p:nvPr/>
        </p:nvSpPr>
        <p:spPr>
          <a:xfrm>
            <a:off x="6632573" y="5677873"/>
            <a:ext cx="4929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Pivot table to wide form and export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029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350c0a-e863-4d0b-a34f-b86c8dded7b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B9311C8E86B64F8B458C1E125A8EF4" ma:contentTypeVersion="14" ma:contentTypeDescription="Create a new document." ma:contentTypeScope="" ma:versionID="1689cc6e9ac459824fa6b5e747767fe0">
  <xsd:schema xmlns:xsd="http://www.w3.org/2001/XMLSchema" xmlns:xs="http://www.w3.org/2001/XMLSchema" xmlns:p="http://schemas.microsoft.com/office/2006/metadata/properties" xmlns:ns2="26fab59a-ff5f-4c36-9946-8ecac6c56893" xmlns:ns3="2f350c0a-e863-4d0b-a34f-b86c8dded7b1" targetNamespace="http://schemas.microsoft.com/office/2006/metadata/properties" ma:root="true" ma:fieldsID="3d6135404498adccd2600db08c4a7b28" ns2:_="" ns3:_="">
    <xsd:import namespace="26fab59a-ff5f-4c36-9946-8ecac6c56893"/>
    <xsd:import namespace="2f350c0a-e863-4d0b-a34f-b86c8dded7b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b59a-ff5f-4c36-9946-8ecac6c5689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350c0a-e863-4d0b-a34f-b86c8dded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a09e083-f52d-4221-b916-d53bc4fb30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4DD2F1-C0DB-4245-B207-DB568634B908}">
  <ds:schemaRefs>
    <ds:schemaRef ds:uri="http://schemas.microsoft.com/office/2006/metadata/properties"/>
    <ds:schemaRef ds:uri="http://schemas.microsoft.com/office/infopath/2007/PartnerControls"/>
    <ds:schemaRef ds:uri="2f350c0a-e863-4d0b-a34f-b86c8dded7b1"/>
  </ds:schemaRefs>
</ds:datastoreItem>
</file>

<file path=customXml/itemProps2.xml><?xml version="1.0" encoding="utf-8"?>
<ds:datastoreItem xmlns:ds="http://schemas.openxmlformats.org/officeDocument/2006/customXml" ds:itemID="{5B1AC91D-A251-4F8C-875C-61A5F0C624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b59a-ff5f-4c36-9946-8ecac6c56893"/>
    <ds:schemaRef ds:uri="2f350c0a-e863-4d0b-a34f-b86c8dded7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BA31DA-AC7A-4D4B-91A8-8E59BAFD5B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583</Words>
  <Application>Microsoft Office PowerPoint</Application>
  <PresentationFormat>Widescreen</PresentationFormat>
  <Paragraphs>71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R Code for Generating the APC Input Matrix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Preparing SEER Data for the NCI APC Web Tool</dc:title>
  <dc:subject>PptxGenJS Presentation</dc:subject>
  <dc:creator>American Cancer Society, Surveillance Research</dc:creator>
  <cp:lastModifiedBy>Adalberto Miranda-Filho</cp:lastModifiedBy>
  <cp:revision>5</cp:revision>
  <dcterms:created xsi:type="dcterms:W3CDTF">2026-08-03T00:57:21Z</dcterms:created>
  <dcterms:modified xsi:type="dcterms:W3CDTF">2026-08-19T09:55:57Z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0x01010040B9311C8E86B64F8B458C1E125A8EF4</vt:lpwstr>
  </property>
  <property fmtid="{D5CDD505-2E9C-101B-9397-08002B2CF9AE}" pid="3" name="MediaServiceImageTags">
    <vt:lpwstr/>
  </property>
</Properties>
</file>